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8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8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2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85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8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7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94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18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18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40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9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597C2-6760-4824-AEB0-324DD007A64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A0D92-50E5-4A85-A982-D806AE24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2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071869" y="1294396"/>
            <a:ext cx="1821185" cy="9292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987961" y="2216729"/>
            <a:ext cx="0" cy="2355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hlinkClick r:id="" action="ppaction://noaction"/>
          </p:cNvPr>
          <p:cNvSpPr/>
          <p:nvPr/>
        </p:nvSpPr>
        <p:spPr>
          <a:xfrm>
            <a:off x="1648800" y="2459581"/>
            <a:ext cx="2800116" cy="5405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Akuisisi</a:t>
            </a:r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dan Pemetaan </a:t>
            </a:r>
          </a:p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Interaksi Biologis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/>
          <p:cNvCxnSpPr>
            <a:stCxn id="6" idx="3"/>
          </p:cNvCxnSpPr>
          <p:nvPr/>
        </p:nvCxnSpPr>
        <p:spPr>
          <a:xfrm flipV="1">
            <a:off x="4448916" y="2728136"/>
            <a:ext cx="205292" cy="1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arallelogram 7">
            <a:hlinkClick r:id="" action="ppaction://noaction"/>
          </p:cNvPr>
          <p:cNvSpPr/>
          <p:nvPr/>
        </p:nvSpPr>
        <p:spPr>
          <a:xfrm>
            <a:off x="5021299" y="1800483"/>
            <a:ext cx="3028652" cy="454903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Senyawa Aktif </a:t>
            </a:r>
          </a:p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Daun </a:t>
            </a:r>
            <a:r>
              <a:rPr lang="en-US" sz="140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Kemuning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arallelogram 8">
            <a:hlinkClick r:id="" action="ppaction://noaction"/>
          </p:cNvPr>
          <p:cNvSpPr/>
          <p:nvPr/>
        </p:nvSpPr>
        <p:spPr>
          <a:xfrm>
            <a:off x="5021299" y="2341281"/>
            <a:ext cx="3017003" cy="295858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Target Potein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arallelogram 9">
            <a:hlinkClick r:id="" action="ppaction://noaction"/>
          </p:cNvPr>
          <p:cNvSpPr/>
          <p:nvPr/>
        </p:nvSpPr>
        <p:spPr>
          <a:xfrm>
            <a:off x="5032948" y="2713489"/>
            <a:ext cx="3028651" cy="295858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PPI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4656547" y="2033672"/>
            <a:ext cx="1218" cy="1577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8" idx="5"/>
          </p:cNvCxnSpPr>
          <p:nvPr/>
        </p:nvCxnSpPr>
        <p:spPr>
          <a:xfrm>
            <a:off x="4654208" y="2027665"/>
            <a:ext cx="423954" cy="27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9" idx="5"/>
          </p:cNvCxnSpPr>
          <p:nvPr/>
        </p:nvCxnSpPr>
        <p:spPr>
          <a:xfrm>
            <a:off x="4654208" y="2486028"/>
            <a:ext cx="404073" cy="3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10" idx="5"/>
          </p:cNvCxnSpPr>
          <p:nvPr/>
        </p:nvCxnSpPr>
        <p:spPr>
          <a:xfrm>
            <a:off x="4654208" y="2860290"/>
            <a:ext cx="415722" cy="1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2"/>
          </p:cNvCxnSpPr>
          <p:nvPr/>
        </p:nvCxnSpPr>
        <p:spPr>
          <a:xfrm flipV="1">
            <a:off x="7993088" y="2027665"/>
            <a:ext cx="299887" cy="27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2"/>
          </p:cNvCxnSpPr>
          <p:nvPr/>
        </p:nvCxnSpPr>
        <p:spPr>
          <a:xfrm flipV="1">
            <a:off x="8001320" y="2485100"/>
            <a:ext cx="299647" cy="4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0" idx="2"/>
          </p:cNvCxnSpPr>
          <p:nvPr/>
        </p:nvCxnSpPr>
        <p:spPr>
          <a:xfrm flipV="1">
            <a:off x="8024617" y="2860290"/>
            <a:ext cx="286224" cy="1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297443" y="2027665"/>
            <a:ext cx="21390" cy="15802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8292975" y="2656095"/>
            <a:ext cx="189707" cy="7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hlinkClick r:id="" action="ppaction://noaction"/>
          </p:cNvPr>
          <p:cNvSpPr/>
          <p:nvPr/>
        </p:nvSpPr>
        <p:spPr>
          <a:xfrm>
            <a:off x="8490674" y="2501731"/>
            <a:ext cx="2138029" cy="4581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Praproses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Parallelogram 20">
            <a:hlinkClick r:id="" action="ppaction://noaction"/>
          </p:cNvPr>
          <p:cNvSpPr/>
          <p:nvPr/>
        </p:nvSpPr>
        <p:spPr>
          <a:xfrm>
            <a:off x="4936692" y="4759085"/>
            <a:ext cx="3166770" cy="320399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Jaringan DDI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Parallelogram 21">
            <a:hlinkClick r:id="" action="ppaction://noaction"/>
          </p:cNvPr>
          <p:cNvSpPr/>
          <p:nvPr/>
        </p:nvSpPr>
        <p:spPr>
          <a:xfrm>
            <a:off x="4918942" y="5166287"/>
            <a:ext cx="3166770" cy="291314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Matriks PDA (protein-domain)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8437577" y="4918525"/>
            <a:ext cx="161784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hlinkClick r:id="" action="ppaction://noaction"/>
          </p:cNvPr>
          <p:cNvSpPr/>
          <p:nvPr/>
        </p:nvSpPr>
        <p:spPr>
          <a:xfrm>
            <a:off x="1719652" y="4664887"/>
            <a:ext cx="2692566" cy="4581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Multi-Network Clustering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hlinkClick r:id="" action="ppaction://noaction"/>
          </p:cNvPr>
          <p:cNvSpPr/>
          <p:nvPr/>
        </p:nvSpPr>
        <p:spPr>
          <a:xfrm>
            <a:off x="1680151" y="5756044"/>
            <a:ext cx="2692565" cy="4581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Analisis &amp; Evaluasi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hlinkClick r:id="" action="ppaction://noaction"/>
          </p:cNvPr>
          <p:cNvSpPr/>
          <p:nvPr/>
        </p:nvSpPr>
        <p:spPr>
          <a:xfrm>
            <a:off x="5155117" y="5544404"/>
            <a:ext cx="1821185" cy="9292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</a:rPr>
              <a:t>SELESAI</a:t>
            </a:r>
            <a:endParaRPr lang="en-US" sz="1400">
              <a:ln w="0"/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88847" y="4644182"/>
            <a:ext cx="2138029" cy="4581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Konstruksi Jaringan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/>
          <p:cNvCxnSpPr>
            <a:stCxn id="20" idx="3"/>
          </p:cNvCxnSpPr>
          <p:nvPr/>
        </p:nvCxnSpPr>
        <p:spPr>
          <a:xfrm flipV="1">
            <a:off x="10628703" y="2730573"/>
            <a:ext cx="214669" cy="2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rallelogram 28">
            <a:hlinkClick r:id="" action="ppaction://noaction"/>
          </p:cNvPr>
          <p:cNvSpPr/>
          <p:nvPr/>
        </p:nvSpPr>
        <p:spPr>
          <a:xfrm>
            <a:off x="4943685" y="4352126"/>
            <a:ext cx="3166770" cy="320399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Jaringan PPI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Parallelogram 29">
            <a:hlinkClick r:id="" action="ppaction://noaction"/>
          </p:cNvPr>
          <p:cNvSpPr/>
          <p:nvPr/>
        </p:nvSpPr>
        <p:spPr>
          <a:xfrm>
            <a:off x="4995294" y="3463295"/>
            <a:ext cx="3066305" cy="295303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PDA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Connector 30"/>
          <p:cNvCxnSpPr>
            <a:endCxn id="46" idx="5"/>
          </p:cNvCxnSpPr>
          <p:nvPr/>
        </p:nvCxnSpPr>
        <p:spPr>
          <a:xfrm flipV="1">
            <a:off x="4647552" y="3235551"/>
            <a:ext cx="430109" cy="33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46" idx="2"/>
          </p:cNvCxnSpPr>
          <p:nvPr/>
        </p:nvCxnSpPr>
        <p:spPr>
          <a:xfrm flipV="1">
            <a:off x="8032348" y="3235476"/>
            <a:ext cx="288367" cy="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2"/>
          </p:cNvCxnSpPr>
          <p:nvPr/>
        </p:nvCxnSpPr>
        <p:spPr>
          <a:xfrm>
            <a:off x="8070405" y="4512326"/>
            <a:ext cx="343524" cy="66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1" idx="2"/>
          </p:cNvCxnSpPr>
          <p:nvPr/>
        </p:nvCxnSpPr>
        <p:spPr>
          <a:xfrm>
            <a:off x="8063412" y="4919285"/>
            <a:ext cx="355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2" idx="2"/>
          </p:cNvCxnSpPr>
          <p:nvPr/>
        </p:nvCxnSpPr>
        <p:spPr>
          <a:xfrm>
            <a:off x="8049298" y="5311944"/>
            <a:ext cx="377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8418592" y="4518942"/>
            <a:ext cx="8469" cy="793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612296" y="4531922"/>
            <a:ext cx="36499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endCxn id="21" idx="5"/>
          </p:cNvCxnSpPr>
          <p:nvPr/>
        </p:nvCxnSpPr>
        <p:spPr>
          <a:xfrm flipV="1">
            <a:off x="4613964" y="4919285"/>
            <a:ext cx="362778" cy="1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22" idx="5"/>
          </p:cNvCxnSpPr>
          <p:nvPr/>
        </p:nvCxnSpPr>
        <p:spPr>
          <a:xfrm>
            <a:off x="4612296" y="5311944"/>
            <a:ext cx="343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419216" y="4905539"/>
            <a:ext cx="161784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0719688" y="4877262"/>
            <a:ext cx="161784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10856819" y="2728136"/>
            <a:ext cx="24653" cy="21491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1502651" y="4905330"/>
            <a:ext cx="214669" cy="2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1491624" y="4893938"/>
            <a:ext cx="15259" cy="1091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5" idx="3"/>
            <a:endCxn id="26" idx="2"/>
          </p:cNvCxnSpPr>
          <p:nvPr/>
        </p:nvCxnSpPr>
        <p:spPr>
          <a:xfrm>
            <a:off x="4372716" y="5985095"/>
            <a:ext cx="782401" cy="239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Parallelogram 45">
            <a:hlinkClick r:id="" action="ppaction://noaction"/>
          </p:cNvPr>
          <p:cNvSpPr/>
          <p:nvPr/>
        </p:nvSpPr>
        <p:spPr>
          <a:xfrm>
            <a:off x="5040679" y="3087622"/>
            <a:ext cx="3028651" cy="295858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DDI</a:t>
            </a:r>
            <a:endParaRPr lang="en-US" sz="140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>
            <a:endCxn id="30" idx="5"/>
          </p:cNvCxnSpPr>
          <p:nvPr/>
        </p:nvCxnSpPr>
        <p:spPr>
          <a:xfrm flipV="1">
            <a:off x="4654208" y="3610947"/>
            <a:ext cx="377999" cy="2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0" idx="2"/>
          </p:cNvCxnSpPr>
          <p:nvPr/>
        </p:nvCxnSpPr>
        <p:spPr>
          <a:xfrm flipV="1">
            <a:off x="8024686" y="3607873"/>
            <a:ext cx="294147" cy="3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25" idx="1"/>
          </p:cNvCxnSpPr>
          <p:nvPr/>
        </p:nvCxnSpPr>
        <p:spPr>
          <a:xfrm>
            <a:off x="1491624" y="5985095"/>
            <a:ext cx="1885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4612296" y="4518942"/>
            <a:ext cx="0" cy="793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0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mtClean="0"/>
              <a:t>ALUR PENELITIAN YANG BENAR</a:t>
            </a:r>
          </a:p>
          <a:p>
            <a:pPr marL="514350" indent="-514350">
              <a:buAutoNum type="arabicPeriod"/>
            </a:pPr>
            <a:r>
              <a:rPr lang="en-US" smtClean="0"/>
              <a:t>Akuisisi Data dan Pemetaan Interaksi Biologis</a:t>
            </a:r>
          </a:p>
          <a:p>
            <a:pPr marL="0" indent="0">
              <a:buNone/>
            </a:pPr>
            <a:r>
              <a:rPr lang="en-US" smtClean="0"/>
              <a:t>Data senyawa aktif</a:t>
            </a:r>
          </a:p>
          <a:p>
            <a:pPr marL="0" indent="0">
              <a:buNone/>
            </a:pPr>
            <a:r>
              <a:rPr lang="en-US" smtClean="0"/>
              <a:t>Data target protein</a:t>
            </a:r>
          </a:p>
          <a:p>
            <a:pPr marL="0" indent="0">
              <a:buNone/>
            </a:pPr>
            <a:r>
              <a:rPr lang="en-US" smtClean="0"/>
              <a:t>Data PPI</a:t>
            </a:r>
          </a:p>
          <a:p>
            <a:pPr marL="0" indent="0">
              <a:buNone/>
            </a:pPr>
            <a:r>
              <a:rPr lang="en-US" smtClean="0"/>
              <a:t>Data DDI</a:t>
            </a:r>
          </a:p>
          <a:p>
            <a:pPr marL="0" indent="0">
              <a:buNone/>
            </a:pPr>
            <a:r>
              <a:rPr lang="en-US" smtClean="0"/>
              <a:t>Data PDA↓</a:t>
            </a:r>
          </a:p>
          <a:p>
            <a:pPr marL="0" indent="0">
              <a:buNone/>
            </a:pPr>
            <a:r>
              <a:rPr lang="en-US" smtClean="0"/>
              <a:t>2. Praproses</a:t>
            </a:r>
          </a:p>
          <a:p>
            <a:pPr marL="0" indent="0">
              <a:buNone/>
            </a:pPr>
            <a:r>
              <a:rPr lang="en-US" smtClean="0"/>
              <a:t>Normalisasi ID protein</a:t>
            </a:r>
          </a:p>
          <a:p>
            <a:pPr marL="0" indent="0">
              <a:buNone/>
            </a:pPr>
            <a:r>
              <a:rPr lang="en-US" smtClean="0"/>
              <a:t>Penyaringan PPI</a:t>
            </a:r>
          </a:p>
          <a:p>
            <a:pPr marL="0" indent="0">
              <a:buNone/>
            </a:pPr>
            <a:r>
              <a:rPr lang="en-US" smtClean="0"/>
              <a:t>Penyusunan domain–protein</a:t>
            </a:r>
          </a:p>
          <a:p>
            <a:pPr marL="0" indent="0">
              <a:buNone/>
            </a:pPr>
            <a:r>
              <a:rPr lang="en-US" smtClean="0"/>
              <a:t>Ekstraksi DDI dari 3did</a:t>
            </a:r>
          </a:p>
          <a:p>
            <a:pPr marL="0" indent="0">
              <a:buNone/>
            </a:pPr>
            <a:r>
              <a:rPr lang="en-US" smtClean="0"/>
              <a:t>Memetakan domain → Pfam → protein</a:t>
            </a:r>
          </a:p>
          <a:p>
            <a:pPr marL="0" indent="0">
              <a:buNone/>
            </a:pPr>
            <a:r>
              <a:rPr lang="en-US" smtClean="0"/>
              <a:t>Menyusun matriks F (PDA)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↓Output praproses:</a:t>
            </a:r>
          </a:p>
          <a:p>
            <a:r>
              <a:rPr lang="en-US" smtClean="0"/>
              <a:t>List protein</a:t>
            </a:r>
          </a:p>
          <a:p>
            <a:r>
              <a:rPr lang="en-US" smtClean="0"/>
              <a:t>List domain</a:t>
            </a:r>
          </a:p>
          <a:p>
            <a:pPr marL="0" indent="0">
              <a:buNone/>
            </a:pPr>
            <a:r>
              <a:rPr lang="en-US" smtClean="0"/>
              <a:t>3. Konstruksi Jaringan</a:t>
            </a:r>
          </a:p>
          <a:p>
            <a:pPr marL="0" indent="0">
              <a:buNone/>
            </a:pPr>
            <a:r>
              <a:rPr lang="en-US" smtClean="0"/>
              <a:t>→ membentuk graf / matriks adjacency</a:t>
            </a:r>
          </a:p>
          <a:p>
            <a:pPr marL="0" indent="0">
              <a:buNone/>
            </a:pPr>
            <a:r>
              <a:rPr lang="en-US" smtClean="0"/>
              <a:t>Jaringan PPI</a:t>
            </a:r>
          </a:p>
          <a:p>
            <a:pPr marL="0" indent="0">
              <a:buNone/>
            </a:pPr>
            <a:r>
              <a:rPr lang="en-US" smtClean="0"/>
              <a:t>Jaringan DDI</a:t>
            </a:r>
          </a:p>
          <a:p>
            <a:pPr marL="0" indent="0">
              <a:buNone/>
            </a:pPr>
            <a:r>
              <a:rPr lang="en-US" smtClean="0"/>
              <a:t>Matriks PDA (protein–domain)</a:t>
            </a:r>
          </a:p>
          <a:p>
            <a:r>
              <a:rPr lang="en-US" smtClean="0"/>
              <a:t>Matriks PPI (A¹)</a:t>
            </a:r>
          </a:p>
          <a:p>
            <a:r>
              <a:rPr lang="en-US" smtClean="0"/>
              <a:t>Matriks DDI (A²)</a:t>
            </a:r>
          </a:p>
          <a:p>
            <a:r>
              <a:rPr lang="en-US" smtClean="0"/>
              <a:t>Matriks PDA (F)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4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8823"/>
            <a:ext cx="10515600" cy="57981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mtClean="0"/>
              <a:t>4. Multi-Network Clustering (MNC)</a:t>
            </a:r>
          </a:p>
          <a:p>
            <a:pPr marL="0" indent="0">
              <a:buNone/>
            </a:pPr>
            <a:r>
              <a:rPr lang="en-US" smtClean="0"/>
              <a:t>Inisialisasi H</a:t>
            </a:r>
          </a:p>
          <a:p>
            <a:pPr marL="0" indent="0">
              <a:buNone/>
            </a:pPr>
            <a:r>
              <a:rPr lang="en-US" smtClean="0"/>
              <a:t>Pembaruan H¹, H²</a:t>
            </a:r>
          </a:p>
          <a:p>
            <a:pPr marL="0" indent="0">
              <a:buNone/>
            </a:pPr>
            <a:r>
              <a:rPr lang="en-US" smtClean="0"/>
              <a:t>Pembaruan F</a:t>
            </a:r>
          </a:p>
          <a:p>
            <a:pPr marL="0" indent="0">
              <a:buNone/>
            </a:pPr>
            <a:r>
              <a:rPr lang="en-US" smtClean="0"/>
              <a:t>Iterasi hingga konvergen</a:t>
            </a:r>
          </a:p>
          <a:p>
            <a:pPr marL="0" indent="0">
              <a:buNone/>
            </a:pPr>
            <a:r>
              <a:rPr lang="en-US" smtClean="0"/>
              <a:t>Output final:</a:t>
            </a:r>
          </a:p>
          <a:p>
            <a:pPr marL="0" indent="0">
              <a:buNone/>
            </a:pPr>
            <a:r>
              <a:rPr lang="en-US" smtClean="0"/>
              <a:t>H* (klaster protein final)</a:t>
            </a:r>
          </a:p>
          <a:p>
            <a:pPr marL="0" indent="0">
              <a:buNone/>
            </a:pPr>
            <a:r>
              <a:rPr lang="en-US" smtClean="0"/>
              <a:t>F* (asosiasi domain–protein terperbaiki)</a:t>
            </a:r>
          </a:p>
          <a:p>
            <a:pPr marL="0" indent="0">
              <a:buNone/>
            </a:pPr>
            <a:r>
              <a:rPr lang="en-US" smtClean="0"/>
              <a:t>Klaster protein–domain</a:t>
            </a:r>
          </a:p>
          <a:p>
            <a:pPr marL="0" indent="0">
              <a:buNone/>
            </a:pPr>
            <a:r>
              <a:rPr lang="en-US" smtClean="0"/>
              <a:t>5. Analisis dan Evaluasi</a:t>
            </a:r>
          </a:p>
          <a:p>
            <a:pPr marL="0" indent="0">
              <a:buNone/>
            </a:pPr>
            <a:r>
              <a:rPr lang="en-US" smtClean="0"/>
              <a:t>Interpretasi klaster</a:t>
            </a:r>
          </a:p>
          <a:p>
            <a:pPr marL="0" indent="0">
              <a:buNone/>
            </a:pPr>
            <a:r>
              <a:rPr lang="en-US" smtClean="0"/>
              <a:t>Hubungan dengan protein obesitas</a:t>
            </a:r>
          </a:p>
          <a:p>
            <a:pPr marL="0" indent="0">
              <a:buNone/>
            </a:pPr>
            <a:r>
              <a:rPr lang="en-US" smtClean="0"/>
              <a:t>Hubungan dengan senyawa daun kemuning</a:t>
            </a:r>
          </a:p>
          <a:p>
            <a:pPr marL="0" indent="0">
              <a:buNone/>
            </a:pPr>
            <a:r>
              <a:rPr lang="en-US" smtClean="0"/>
              <a:t>Validasi Acc, FRAC, p-value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36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189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puspitasariindah</dc:creator>
  <cp:lastModifiedBy>puspitasariindah</cp:lastModifiedBy>
  <cp:revision>4</cp:revision>
  <dcterms:created xsi:type="dcterms:W3CDTF">2025-12-10T14:17:12Z</dcterms:created>
  <dcterms:modified xsi:type="dcterms:W3CDTF">2025-12-10T16:17:47Z</dcterms:modified>
</cp:coreProperties>
</file>